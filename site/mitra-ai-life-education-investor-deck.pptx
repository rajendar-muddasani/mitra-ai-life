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68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E1FF"/>
                </a:solidFill>
                <a:latin typeface="Aptos"/>
              </a:rPr>
              <a:t>INVESTOR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6583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 Display"/>
              </a:rPr>
              <a:t>Mitra AI Life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6583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991FF"/>
                </a:solidFill>
                <a:latin typeface="Aptos"/>
              </a:rPr>
              <a:t>Seed round  |  India AI literacy, English first, Telugu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FB3DA"/>
                </a:solidFill>
                <a:latin typeface="Aptos"/>
              </a:rPr>
              <a:t>300 million internet-connected Indians have never used an AI tool. We are building the simplest, most relatable first-hour AI experience for them — in their language, with their everyday problems.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657600"/>
            <a:ext cx="2468880" cy="169164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767328"/>
            <a:ext cx="21396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160520"/>
            <a:ext cx="2139696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22960" y="3822191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8E1FF"/>
                </a:solidFill>
                <a:latin typeface="Aptos Display"/>
              </a:rPr>
              <a:t>₹6B+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DA"/>
                </a:solidFill>
                <a:latin typeface="Aptos"/>
              </a:rPr>
              <a:t>India edtech market 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657600"/>
            <a:ext cx="2468880" cy="169164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3767328"/>
            <a:ext cx="21396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4160520"/>
            <a:ext cx="2139696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3474720" y="3822191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3A6FF"/>
                </a:solidFill>
                <a:latin typeface="Aptos Display"/>
              </a:rPr>
              <a:t>300M+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61772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DA"/>
                </a:solidFill>
                <a:latin typeface="Aptos"/>
              </a:rPr>
              <a:t>AI-untouched internet 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3657600"/>
            <a:ext cx="2468880" cy="169164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3767328"/>
            <a:ext cx="21396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4160520"/>
            <a:ext cx="2139696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126480" y="3822191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7991FF"/>
                </a:solidFill>
                <a:latin typeface="Aptos Display"/>
              </a:rPr>
              <a:t>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61772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DA"/>
                </a:solidFill>
                <a:latin typeface="Aptos"/>
              </a:rPr>
              <a:t>Online education CAGR 2024–30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3657600"/>
            <a:ext cx="2468880" cy="169164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5672" y="3767328"/>
            <a:ext cx="21396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5672" y="4160520"/>
            <a:ext cx="2139696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8778240" y="3822191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48DB96"/>
                </a:solidFill>
                <a:latin typeface="Aptos Display"/>
              </a:rPr>
              <a:t>₹1 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61772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DA"/>
                </a:solidFill>
                <a:latin typeface="Aptos"/>
              </a:rPr>
              <a:t>Seed 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7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E1FF"/>
                </a:solidFill>
                <a:latin typeface="Apto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F"/>
                </a:solidFill>
                <a:latin typeface="Aptos Display"/>
              </a:rPr>
              <a:t>300 million connected Indians have no trusted first step into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8229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70% of Indian internet users have never used an AI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520440" cy="260604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84248"/>
            <a:ext cx="31912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The content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77439"/>
            <a:ext cx="3191256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  <a:r>
              <a:t>Existing AI education is English-heavy, desktop-first, jargon-filled, and built for tech-savvy users. It does not speak to homemakers, small shopkeepers, or first-generation smartphone owners.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20440" cy="2606040"/>
          </a:xfrm>
          <a:prstGeom prst="roundRect">
            <a:avLst/>
          </a:prstGeom>
          <a:solidFill>
            <a:srgbClr val="182A5E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984248"/>
            <a:ext cx="31912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The language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377439"/>
            <a:ext cx="3191256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  <a:r>
              <a:t>~600 million Indians use a regional language as their primary digital language. Telugu alone covers 90M+ people. Almost zero structured AI learning exists in Telugu.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74519"/>
            <a:ext cx="3474720" cy="2606040"/>
          </a:xfrm>
          <a:prstGeom prst="roundRect">
            <a:avLst/>
          </a:prstGeom>
          <a:solidFill>
            <a:srgbClr val="0E1838"/>
          </a:solidFill>
          <a:ln>
            <a:solidFill>
              <a:srgbClr val="FFC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984248"/>
            <a:ext cx="31455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The trust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377439"/>
            <a:ext cx="3145536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  <a:r>
              <a:t>When people do encounter AI, it feels like magic they cannot control — or a risk they do not understand. There is no guide that is warm, simple, and honest.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846320"/>
            <a:ext cx="10835640" cy="12700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83480"/>
            <a:ext cx="10835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Nobody is building the reliable, beginner-first, vernacular AI learning path for the Indian mass market.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68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E1FF"/>
                </a:solidFill>
                <a:latin typeface="Aptos"/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F"/>
                </a:solidFill>
                <a:latin typeface="Aptos Display"/>
              </a:rPr>
              <a:t>A beginner-first AI learning platform built for daily Indian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8229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Practical outcomes first. Telugu as the first translation.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257800" cy="3200400"/>
          </a:xfrm>
          <a:prstGeom prst="roundRect">
            <a:avLst/>
          </a:prstGeom>
          <a:solidFill>
            <a:srgbClr val="182A5E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84248"/>
            <a:ext cx="49286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What the learner 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77439"/>
            <a:ext cx="4928616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Relatable stories drawn from Indian daily life (not Silicon Valley demos)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Watch-first, act-later lesson structure — low anxiety, high trust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Simple English source, then meaning-first Telugu translation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Comic strips, voice-led sequences, cheat sheets, and micro-worksheets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Human-reviewed content — never publish raw AI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5257800" cy="320040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84248"/>
            <a:ext cx="49286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What makes us different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77439"/>
            <a:ext cx="4928616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Vernacular-first roadmap from day one, not an afterthought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Free first two levels — trust before transactions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Production workflow: English master → auto-draft → Telugu human review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Content platform is separate from premium engineering project studio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Designed for WhatsApp-era learners with a smartphone, not a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440680"/>
            <a:ext cx="10835640" cy="12700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577840"/>
            <a:ext cx="10835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8E1FF"/>
                </a:solidFill>
                <a:latin typeface="Aptos"/>
              </a:rPr>
              <a:t>We are the trusted Mitra (friend) for the first million Indians to use AI confidently.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7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E1FF"/>
                </a:solidFill>
                <a:latin typeface="Aptos"/>
              </a:rPr>
              <a:t>MARKET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F"/>
                </a:solidFill>
                <a:latin typeface="Aptos Display"/>
              </a:rPr>
              <a:t>India edtech is a ₹50,000 Cr opportunity. We are targeting a fast-growing vernacular AI slice.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8229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India online education 2024 → 2030 CAGR: 30%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520440" cy="3291840"/>
          </a:xfrm>
          <a:prstGeom prst="roundRect">
            <a:avLst/>
          </a:prstGeom>
          <a:solidFill>
            <a:srgbClr val="182A5E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38528"/>
            <a:ext cx="31912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TAM — India online 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31720"/>
            <a:ext cx="3191256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  <a:r>
              <a:t>₹50,000 Cr+ (2024)</a:t>
            </a:r>
            <a:br/>
            <a:r>
              <a:t>All Indians learning online: students, working adults, homemakers, seniors.</a:t>
            </a:r>
            <a:br/>
            <a:br/>
            <a:r>
              <a:t>AI literacy will become a required skill across every segment.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20440" cy="329184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938528"/>
            <a:ext cx="31912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SAM — Regional AI literacy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331720"/>
            <a:ext cx="3191256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  <a:r>
              <a:t>₹6,500 Cr (estimated)</a:t>
            </a:r>
            <a:br/>
            <a:r>
              <a:t>Internet-connected, semi-urban and rural Indians who will need AI skill training in their own language within the next 5 years.</a:t>
            </a:r>
            <a:br/>
            <a:br/>
            <a:r>
              <a:t>Telugu, Hindi, Tamil, Kannada, Marathi lead.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474720" cy="3291840"/>
          </a:xfrm>
          <a:prstGeom prst="roundRect">
            <a:avLst/>
          </a:prstGeom>
          <a:solidFill>
            <a:srgbClr val="0E1838"/>
          </a:solidFill>
          <a:ln>
            <a:solidFill>
              <a:srgbClr val="48D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938528"/>
            <a:ext cx="31455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SOM — Telugu + Hindi first (3 yr)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331720"/>
            <a:ext cx="3145536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  <a:r>
              <a:t>₹350 Cr reachable</a:t>
            </a:r>
            <a:br/>
            <a:r>
              <a:t>500K paid learners × ₹700 average annual basket.</a:t>
            </a:r>
            <a:br/>
            <a:br/>
            <a:r>
              <a:t>Capturing 0.2% of the SAM in 3 years via organic WhatsApp distribution, community referrals, and school partnerships.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440680"/>
            <a:ext cx="10835640" cy="12700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577840"/>
            <a:ext cx="10835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9FB3DA"/>
                </a:solidFill>
                <a:latin typeface="Aptos"/>
              </a:rPr>
              <a:t>India is adding 30M new internet users per year — most of them mobile-first, language-first, AI-ready by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68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E1FF"/>
                </a:solidFill>
                <a:latin typeface="Aptos"/>
              </a:rPr>
              <a:t>PRODUCT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F"/>
                </a:solidFill>
                <a:latin typeface="Aptos Display"/>
              </a:rPr>
              <a:t>Seven levels. Free trust first. Paid depth from Level 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417320" cy="2606040"/>
          </a:xfrm>
          <a:prstGeom prst="roundRect">
            <a:avLst/>
          </a:prstGeom>
          <a:solidFill>
            <a:srgbClr val="182A5E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8E1FF"/>
                </a:solidFill>
                <a:latin typeface="Aptos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67712"/>
            <a:ext cx="1234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F"/>
                </a:solidFill>
                <a:latin typeface="Aptos Display"/>
              </a:rPr>
              <a:t>First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234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FB3DA"/>
                </a:solidFill>
                <a:latin typeface="Aptos"/>
              </a:rPr>
              <a:t>45–60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18688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8E1FF"/>
                </a:solidFill>
                <a:latin typeface="Aptos"/>
              </a:rPr>
              <a:t>FREE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1874519"/>
            <a:ext cx="1417320" cy="2606040"/>
          </a:xfrm>
          <a:prstGeom prst="roundRect">
            <a:avLst/>
          </a:prstGeom>
          <a:solidFill>
            <a:srgbClr val="182A5E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19933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8E1FF"/>
                </a:solidFill>
                <a:latin typeface="Aptos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267712"/>
            <a:ext cx="1234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F"/>
                </a:solidFill>
                <a:latin typeface="Aptos Display"/>
              </a:rPr>
              <a:t>Daily Help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724912"/>
            <a:ext cx="1234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FB3DA"/>
                </a:solidFill>
                <a:latin typeface="Aptos"/>
              </a:rPr>
              <a:t>60–90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18688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8E1FF"/>
                </a:solidFill>
                <a:latin typeface="Aptos"/>
              </a:rPr>
              <a:t>FREE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1874519"/>
            <a:ext cx="1417320" cy="260604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19933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3A6FF"/>
                </a:solidFill>
                <a:latin typeface="Aptos"/>
              </a:rPr>
              <a:t>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267712"/>
            <a:ext cx="1234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F"/>
                </a:solidFill>
                <a:latin typeface="Aptos Display"/>
              </a:rPr>
              <a:t>Smart Basics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724912"/>
            <a:ext cx="1234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FB3DA"/>
                </a:solidFill>
                <a:latin typeface="Aptos"/>
              </a:rPr>
              <a:t>1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218688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3A6FF"/>
                </a:solidFill>
                <a:latin typeface="Aptos"/>
              </a:rPr>
              <a:t>₹100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1874519"/>
            <a:ext cx="1417320" cy="260604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19933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3A6FF"/>
                </a:solidFill>
                <a:latin typeface="Aptos"/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267712"/>
            <a:ext cx="1234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F"/>
                </a:solidFill>
                <a:latin typeface="Aptos Display"/>
              </a:rPr>
              <a:t>Work Smart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724912"/>
            <a:ext cx="1234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FB3DA"/>
                </a:solidFill>
                <a:latin typeface="Aptos"/>
              </a:rPr>
              <a:t>2 hrs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218688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3A6FF"/>
                </a:solidFill>
                <a:latin typeface="Aptos"/>
              </a:rPr>
              <a:t>₹200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1874519"/>
            <a:ext cx="1417320" cy="2606040"/>
          </a:xfrm>
          <a:prstGeom prst="roundRect">
            <a:avLst/>
          </a:prstGeom>
          <a:solidFill>
            <a:srgbClr val="0E1838"/>
          </a:solidFill>
          <a:ln>
            <a:solidFill>
              <a:srgbClr val="7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19933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991FF"/>
                </a:solidFill>
                <a:latin typeface="Aptos"/>
              </a:rPr>
              <a:t>L5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267712"/>
            <a:ext cx="1234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F"/>
                </a:solidFill>
                <a:latin typeface="Aptos Display"/>
              </a:rPr>
              <a:t>Life Upgrade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724912"/>
            <a:ext cx="1234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FB3DA"/>
                </a:solidFill>
                <a:latin typeface="Aptos"/>
              </a:rPr>
              <a:t>3 hrs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218688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991FF"/>
                </a:solidFill>
                <a:latin typeface="Aptos"/>
              </a:rPr>
              <a:t>₹300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1874519"/>
            <a:ext cx="1417320" cy="2606040"/>
          </a:xfrm>
          <a:prstGeom prst="roundRect">
            <a:avLst/>
          </a:prstGeom>
          <a:solidFill>
            <a:srgbClr val="0E1838"/>
          </a:solidFill>
          <a:ln>
            <a:solidFill>
              <a:srgbClr val="7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19933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991FF"/>
                </a:solidFill>
                <a:latin typeface="Aptos"/>
              </a:rPr>
              <a:t>L6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267712"/>
            <a:ext cx="1234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F"/>
                </a:solidFill>
                <a:latin typeface="Aptos Display"/>
              </a:rPr>
              <a:t>Power 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724912"/>
            <a:ext cx="1234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FB3DA"/>
                </a:solidFill>
                <a:latin typeface="Aptos"/>
              </a:rPr>
              <a:t>4 hrs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218688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991FF"/>
                </a:solidFill>
                <a:latin typeface="Aptos"/>
              </a:rPr>
              <a:t>₹400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38360" y="1874519"/>
            <a:ext cx="1417320" cy="2606040"/>
          </a:xfrm>
          <a:prstGeom prst="roundRect">
            <a:avLst/>
          </a:prstGeom>
          <a:solidFill>
            <a:srgbClr val="0E1838"/>
          </a:solidFill>
          <a:ln>
            <a:solidFill>
              <a:srgbClr val="48D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19933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8DB96"/>
                </a:solidFill>
                <a:latin typeface="Aptos"/>
              </a:rPr>
              <a:t>L7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2267712"/>
            <a:ext cx="1234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F"/>
                </a:solidFill>
                <a:latin typeface="Aptos Display"/>
              </a:rPr>
              <a:t>Build With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2724912"/>
            <a:ext cx="1234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FB3DA"/>
                </a:solidFill>
                <a:latin typeface="Aptos"/>
              </a:rPr>
              <a:t>5 hrs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3218688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8DB96"/>
                </a:solidFill>
                <a:latin typeface="Aptos"/>
              </a:rPr>
              <a:t>₹500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4800600"/>
            <a:ext cx="5257800" cy="1188720"/>
          </a:xfrm>
          <a:prstGeom prst="roundRect">
            <a:avLst/>
          </a:prstGeom>
          <a:solidFill>
            <a:srgbClr val="182A5E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" y="4910328"/>
            <a:ext cx="49286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Combo bundles available from Phase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" y="5303520"/>
            <a:ext cx="492861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  <a:r>
              <a:t>L3+L4+L5 bundle at ₹450 and full ladder bundle at ₹1,200 drive higher average basket.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800600"/>
            <a:ext cx="5257800" cy="118872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4910328"/>
            <a:ext cx="49286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Premium engineering studio is separate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5303520"/>
            <a:ext cx="492861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  <a:r>
              <a:t>High-support implementation tracks for teams, colleges, and institutions — different pricing, different support SLA.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7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E1FF"/>
                </a:solidFill>
                <a:latin typeface="Aptos"/>
              </a:rPr>
              <a:t>GO-TO-MARKET &amp;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F"/>
                </a:solidFill>
                <a:latin typeface="Aptos Display"/>
              </a:rPr>
              <a:t>Four phases. Measure completion before conversion.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8229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Distribution: WhatsApp, YouTube, vernacular community groups, school tie-ups.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2606040" cy="3154680"/>
          </a:xfrm>
          <a:prstGeom prst="roundRect">
            <a:avLst/>
          </a:prstGeom>
          <a:solidFill>
            <a:srgbClr val="182A5E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29968"/>
            <a:ext cx="22768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Phase 0
Now – M3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23160"/>
            <a:ext cx="2276856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  <a:r>
              <a:t>Brand locked, GitHub launched, pitch deck live.</a:t>
            </a:r>
            <a:br/>
            <a:r>
              <a:t>Level 1 script, storyboard, and interactive HTML built.</a:t>
            </a:r>
            <a:br/>
            <a:r>
              <a:t>Invite 50 beta testers from Hyderabad network.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920240"/>
            <a:ext cx="2606040" cy="315468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029968"/>
            <a:ext cx="22768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Phase 1
M4 – M6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423160"/>
            <a:ext cx="2276856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  <a:r>
              <a:t>Level 1 and Level 2 fully live (free).</a:t>
            </a:r>
            <a:br/>
            <a:r>
              <a:t>1,000 learners, 60%+ Level 1 completion rate.</a:t>
            </a:r>
            <a:br/>
            <a:r>
              <a:t>Telugu version published and reviewed.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920240"/>
            <a:ext cx="2606040" cy="3154680"/>
          </a:xfrm>
          <a:prstGeom prst="roundRect">
            <a:avLst/>
          </a:prstGeom>
          <a:solidFill>
            <a:srgbClr val="0E1838"/>
          </a:solidFill>
          <a:ln>
            <a:solidFill>
              <a:srgbClr val="7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2029968"/>
            <a:ext cx="22768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Phase 2
M7 – M12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423160"/>
            <a:ext cx="2276856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  <a:r>
              <a:t>Levels 3–5 go live with pricing.</a:t>
            </a:r>
            <a:br/>
            <a:r>
              <a:t>10,000 learners; 10% paid conversion = 1,000 paying users.</a:t>
            </a:r>
            <a:br/>
            <a:r>
              <a:t>₹50L ARR. Combo bundles, certificates launched.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920240"/>
            <a:ext cx="2606040" cy="3154680"/>
          </a:xfrm>
          <a:prstGeom prst="roundRect">
            <a:avLst/>
          </a:prstGeom>
          <a:solidFill>
            <a:srgbClr val="0E1838"/>
          </a:solidFill>
          <a:ln>
            <a:solidFill>
              <a:srgbClr val="48D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1472" y="2029968"/>
            <a:ext cx="22768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Phase 3
M13 – M18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2423160"/>
            <a:ext cx="2276856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  <a:r>
              <a:t>50,000+ learners. ₹1.5 Cr ARR.</a:t>
            </a:r>
            <a:br/>
            <a:r>
              <a:t>Second language (Hindi or Tamil) adapted.</a:t>
            </a:r>
            <a:br/>
            <a:r>
              <a:t>Series A readiness: 3x revenue growth proof.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394960"/>
            <a:ext cx="10835640" cy="12700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532120"/>
            <a:ext cx="10835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C452"/>
                </a:solidFill>
                <a:latin typeface="Aptos"/>
              </a:rPr>
              <a:t>No paid content until Level 1 completion rate exceeds 60% — quality gates before monetisation.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68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E1FF"/>
                </a:solidFill>
                <a:latin typeface="Aptos"/>
              </a:rPr>
              <a:t>BUSINESS MODEL &amp; UNIT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F"/>
                </a:solidFill>
                <a:latin typeface="Aptos Display"/>
              </a:rPr>
              <a:t>Low CAC. High LTV. Free acquisition → paid depth.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520440" cy="3246120"/>
          </a:xfrm>
          <a:prstGeom prst="roundRect">
            <a:avLst/>
          </a:prstGeom>
          <a:solidFill>
            <a:srgbClr val="182A5E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84248"/>
            <a:ext cx="31912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Revenue 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77439"/>
            <a:ext cx="3191256" cy="2624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Level 3–7 individual purchases (₹100–₹500)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Combo bundles (₹450 and ₹1,200 all-access)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Annual subscription — planned Year 2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Institution/school batch licensing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Premium engineering project studio (separate P&amp;L)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520440" cy="3246120"/>
          </a:xfrm>
          <a:prstGeom prst="roundRect">
            <a:avLst/>
          </a:prstGeom>
          <a:solidFill>
            <a:srgbClr val="0E1838"/>
          </a:solidFill>
          <a:ln>
            <a:solidFill>
              <a:srgbClr val="48D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984248"/>
            <a:ext cx="31912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Unit economics (target Year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377439"/>
            <a:ext cx="3191256" cy="2624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CAC target: ₹40 (WhatsApp organic)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Avg first-year basket: ₹800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LTV (3-year): ₹2,400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LTV / CAC: 60x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Gross margin target: 72%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Level 1 completion → paid conversion: 12–18%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74519"/>
            <a:ext cx="3474720" cy="324612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984248"/>
            <a:ext cx="31455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Why margins stay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377439"/>
            <a:ext cx="3145536" cy="2624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Content created once, served millions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Markdown source → multi-format auto-export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Object storage (Cloudflare R2) &lt; $10/month at 100K users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No live instructors in core curriculum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Human review only at final publication step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7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E1FF"/>
                </a:solidFill>
                <a:latin typeface="Aptos"/>
              </a:rPr>
              <a:t>REVENUE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F"/>
                </a:solidFill>
                <a:latin typeface="Aptos Display"/>
              </a:rPr>
              <a:t>Conservative base case. No institutional revenue included.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8229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All figures in Indian Rupees. ARR = annualised recurring revenue.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74720" cy="384048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56816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3A6FF"/>
                </a:solidFill>
                <a:latin typeface="Aptos Display"/>
              </a:rPr>
              <a:t>Year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871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Total learners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87168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2186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Paid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218688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95020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Avg basket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950208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₹800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68172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ARR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681728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₹0.40 Cr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474720" cy="3840480"/>
          </a:xfrm>
          <a:prstGeom prst="roundRect">
            <a:avLst/>
          </a:prstGeom>
          <a:solidFill>
            <a:srgbClr val="0E1838"/>
          </a:solidFill>
          <a:ln>
            <a:solidFill>
              <a:srgbClr val="7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1956816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991FF"/>
                </a:solidFill>
                <a:latin typeface="Aptos Display"/>
              </a:rPr>
              <a:t>Year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1" y="24871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Total learners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487168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200K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1" y="32186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Paid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218688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30,000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1" y="395020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Avg basket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950208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₹800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468172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ARR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681728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₹2.4 Cr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1828800"/>
            <a:ext cx="3474720" cy="3840480"/>
          </a:xfrm>
          <a:prstGeom prst="roundRect">
            <a:avLst/>
          </a:prstGeom>
          <a:solidFill>
            <a:srgbClr val="182A5E"/>
          </a:solidFill>
          <a:ln>
            <a:solidFill>
              <a:srgbClr val="48D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1956816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8DB96"/>
                </a:solidFill>
                <a:latin typeface="Aptos Display"/>
              </a:rPr>
              <a:t>Year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24871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Total learners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487168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600K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186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Paid 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218688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100,000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395020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Avg basket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950208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₹800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468172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ARR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681728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₹8 Cr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5989320"/>
            <a:ext cx="10835640" cy="12700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6108192"/>
            <a:ext cx="10835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FB3DA"/>
                </a:solidFill>
                <a:latin typeface="Aptos"/>
              </a:rPr>
              <a:t>Year 3 ARR of ₹8 Cr is 0.02% of the addressable Indian regional AI education market. Upside is significant.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68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E1FF"/>
                </a:solidFill>
                <a:latin typeface="Aptos"/>
              </a:rPr>
              <a:t>FOUNDER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F"/>
                </a:solidFill>
                <a:latin typeface="Aptos Display"/>
              </a:rPr>
              <a:t>Built from lived experience, not theory.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8229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Raising seed to move from plan to product.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7132320" cy="3291840"/>
          </a:xfrm>
          <a:prstGeom prst="roundRect">
            <a:avLst/>
          </a:prstGeom>
          <a:solidFill>
            <a:srgbClr val="182A5E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84248"/>
            <a:ext cx="68031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Rajendar Muddasani — Founder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77439"/>
            <a:ext cx="6803136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9FB3DA"/>
                </a:solidFill>
                <a:latin typeface="Aptos"/>
              </a:defRPr>
            </a:pPr>
            <a:r>
              <a:t>Telugu-speaking founder with direct experience of the AI knowledge gap in the Indian market. Building Mitra AI Life Education because no existing platform speaks to the everyday Indian in a language and format they actually trust.</a:t>
            </a:r>
            <a:br/>
            <a:br/>
            <a:r>
              <a:t>Background spans technology, systems thinking, and practical education delivery. Personal mission: make AI as usable for a homemaker in Warangal as it is for a developer in Bengaluru.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874519"/>
            <a:ext cx="3474720" cy="1554480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984248"/>
            <a:ext cx="31455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Why the founder 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377439"/>
            <a:ext cx="3145536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Bilingual — Telugu + English native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Lives in the target market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Content + tech capable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611880"/>
            <a:ext cx="3474720" cy="1554480"/>
          </a:xfrm>
          <a:prstGeom prst="roundRect">
            <a:avLst/>
          </a:prstGeom>
          <a:solidFill>
            <a:srgbClr val="0E1838"/>
          </a:solidFill>
          <a:ln>
            <a:solidFill>
              <a:srgbClr val="48D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3721608"/>
            <a:ext cx="31455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Planned first hires (post-seed)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4114800"/>
            <a:ext cx="3145536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Telugu content editor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Visual / comic artist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Part-time community manager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7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E1FF"/>
                </a:solidFill>
                <a:latin typeface="Aptos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F"/>
                </a:solidFill>
                <a:latin typeface="Aptos Display"/>
              </a:rPr>
              <a:t>₹1 Crore seed 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8229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DA"/>
                </a:solidFill>
                <a:latin typeface="Aptos"/>
              </a:rPr>
              <a:t>18-month runway to ₹1 Cr ARR and Series A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257800" cy="3383280"/>
          </a:xfrm>
          <a:prstGeom prst="roundRect">
            <a:avLst/>
          </a:prstGeom>
          <a:solidFill>
            <a:srgbClr val="182A5E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38528"/>
            <a:ext cx="49286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Use of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31720"/>
            <a:ext cx="4928616" cy="2761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Content &amp; production (L1–L5, Telugu)  —  45%  (₹45L)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Technology &amp; product (site, payments, tracking)  —  28%  (₹28L)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Marketing &amp; community growth  —  18%  (₹18L)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Operations &amp; team  —  9%  (₹9L)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57800" cy="3383280"/>
          </a:xfrm>
          <a:prstGeom prst="roundRect">
            <a:avLst/>
          </a:prstGeom>
          <a:solidFill>
            <a:srgbClr val="0E1838"/>
          </a:solidFill>
          <a:ln>
            <a:solidFill>
              <a:srgbClr val="48D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38528"/>
            <a:ext cx="49286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Key milestones unlocked by ₹1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31720"/>
            <a:ext cx="4928616" cy="2761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M3 — Levels 1–2 live, 1K beta learners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M6 — Levels 3–5 paid, 10K learners, ₹50L ARR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M12 — 50K learners, ₹1 Cr ARR, Telugu live</a:t>
            </a:r>
          </a:p>
          <a:p>
            <a:pPr>
              <a:spcAft>
                <a:spcPts val="5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M18 — Series A ready: 3x growth, second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577840"/>
            <a:ext cx="10835640" cy="12700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8"/>
            <a:ext cx="5257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68E1FF"/>
                </a:solidFill>
                <a:latin typeface="Aptos"/>
              </a:rPr>
              <a:t>Target raise: ₹1 Cr  |  Instrument: SAFE or equity  |  Stage: Pre-seed / Seed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687568"/>
            <a:ext cx="5257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FB3DA"/>
                </a:solidFill>
                <a:latin typeface="Aptos"/>
              </a:rPr>
              <a:t>mitra-ai-life  |  github.com/rajendarmuddasani/mitra-ai-life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